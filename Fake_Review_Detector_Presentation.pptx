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A027EB7-1B9F-47FB-8756-344E821650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Untitled Section" id="{78322CE7-2868-49FA-A479-5056F919D351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8539" y="2514601"/>
            <a:ext cx="8913077" cy="2262781"/>
          </a:xfrm>
        </p:spPr>
        <p:txBody>
          <a:bodyPr anchor="b">
            <a:normAutofit/>
          </a:bodyPr>
          <a:lstStyle>
            <a:lvl1pPr>
              <a:defRPr sz="53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8539" y="4777380"/>
            <a:ext cx="8913077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1"/>
            <a:ext cx="1744198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4529541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505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250" y="624110"/>
            <a:ext cx="8909366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8538" y="2133600"/>
            <a:ext cx="8913078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371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2058750"/>
            <a:ext cx="8913077" cy="146880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3530129"/>
            <a:ext cx="8913077" cy="860400"/>
          </a:xfrm>
        </p:spPr>
        <p:txBody>
          <a:bodyPr anchor="t"/>
          <a:lstStyle>
            <a:lvl1pPr marL="0" indent="0" algn="l">
              <a:buNone/>
              <a:defRPr sz="19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87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8538" y="2133600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88874" y="2126222"/>
            <a:ext cx="4312741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40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8608" y="1972703"/>
            <a:ext cx="399169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8538" y="2548966"/>
            <a:ext cx="4341762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4674" y="1969475"/>
            <a:ext cx="3997960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5091" y="2545738"/>
            <a:ext cx="433754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787783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73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9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54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446088"/>
            <a:ext cx="3504286" cy="976312"/>
          </a:xfrm>
        </p:spPr>
        <p:txBody>
          <a:bodyPr anchor="b"/>
          <a:lstStyle>
            <a:lvl1pPr algn="l">
              <a:defRPr sz="19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1365" y="446089"/>
            <a:ext cx="5180251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8" y="1598613"/>
            <a:ext cx="3504286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05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4800600"/>
            <a:ext cx="8913078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8538" y="634965"/>
            <a:ext cx="8913078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367338"/>
            <a:ext cx="891307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524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09600"/>
            <a:ext cx="8913077" cy="311704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986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4159" y="3505200"/>
            <a:ext cx="7534591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4354046"/>
            <a:ext cx="8913077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799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31781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674" y="3244140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090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9" y="2438401"/>
            <a:ext cx="8913078" cy="2724845"/>
          </a:xfrm>
        </p:spPr>
        <p:txBody>
          <a:bodyPr anchor="b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207" y="609600"/>
            <a:ext cx="8391740" cy="2895600"/>
          </a:xfrm>
        </p:spPr>
        <p:txBody>
          <a:bodyPr anchor="ctr">
            <a:normAutofit/>
          </a:bodyPr>
          <a:lstStyle>
            <a:lvl1pPr algn="l">
              <a:defRPr sz="47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010" y="648005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1958" y="2905306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1422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8538" y="627407"/>
            <a:ext cx="8913077" cy="2880020"/>
          </a:xfrm>
        </p:spPr>
        <p:txBody>
          <a:bodyPr anchor="ctr">
            <a:normAutofit/>
          </a:bodyPr>
          <a:lstStyle>
            <a:lvl1pPr algn="l">
              <a:defRPr sz="4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8538" y="4343400"/>
            <a:ext cx="8913078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399">
                <a:solidFill>
                  <a:schemeClr val="accent1"/>
                </a:solidFill>
              </a:defRPr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8539" y="5181600"/>
            <a:ext cx="8913078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7" y="491172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674" y="4983088"/>
            <a:ext cx="779564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53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06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2392" y="627406"/>
            <a:ext cx="2207026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8538" y="627406"/>
            <a:ext cx="6475313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7" y="714376"/>
            <a:ext cx="1588113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13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0773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14" y="-786"/>
            <a:ext cx="2356060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32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249" y="624110"/>
            <a:ext cx="8909366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8538" y="2133600"/>
            <a:ext cx="8913078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58914" y="6130437"/>
            <a:ext cx="1145984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8538" y="6135809"/>
            <a:ext cx="76180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674" y="787783"/>
            <a:ext cx="77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999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307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79" r:id="rId12"/>
    <p:sldLayoutId id="2147483780" r:id="rId13"/>
    <p:sldLayoutId id="2147483781" r:id="rId14"/>
    <p:sldLayoutId id="2147483782" r:id="rId15"/>
    <p:sldLayoutId id="2147483783" r:id="rId1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457063" rtl="0" eaLnBrk="1" latinLnBrk="0" hangingPunct="1">
        <a:spcBef>
          <a:spcPct val="0"/>
        </a:spcBef>
        <a:buNone/>
        <a:defRPr sz="3599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799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98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33046" y="829994"/>
            <a:ext cx="1046077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57250" indent="-857250">
              <a:buFont typeface="Wingdings" panose="05000000000000000000" pitchFamily="2" charset="2"/>
              <a:buChar char="q"/>
              <a:defRPr sz="2800" b="1"/>
            </a:pPr>
            <a:r>
              <a:rPr sz="6000" dirty="0"/>
              <a:t>Fake Review Detector</a:t>
            </a:r>
          </a:p>
          <a:p>
            <a:pPr marL="571500" indent="-571500">
              <a:buFont typeface="Wingdings" panose="05000000000000000000" pitchFamily="2" charset="2"/>
              <a:buChar char="Ø"/>
              <a:defRPr sz="2000"/>
            </a:pPr>
            <a:r>
              <a:rPr sz="4000" dirty="0"/>
              <a:t>Python + </a:t>
            </a:r>
            <a:r>
              <a:rPr sz="4000" dirty="0" err="1"/>
              <a:t>Streamlit</a:t>
            </a:r>
            <a:r>
              <a:rPr sz="4000" dirty="0"/>
              <a:t> Project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B2D3B9-1431-4FE3-B76D-5DC3901761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756631"/>
            <a:ext cx="4178661" cy="356679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CC7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201748"/>
            <a:ext cx="10860258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  <a:defRPr sz="2800" b="1"/>
            </a:pPr>
            <a:r>
              <a:rPr sz="4400" dirty="0"/>
              <a:t>Introduction</a:t>
            </a:r>
            <a:endParaRPr lang="en-US" sz="4400" dirty="0"/>
          </a:p>
          <a:p>
            <a:pPr>
              <a:defRPr sz="2800" b="1"/>
            </a:pP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  <a:defRPr sz="2800" b="1"/>
            </a:pPr>
            <a:r>
              <a:rPr lang="en-US" sz="3200" dirty="0">
                <a:solidFill>
                  <a:srgbClr val="334155"/>
                </a:solidFill>
              </a:rPr>
              <a:t>A powerful AI-based tool to identify fake and manipulated online product reviews using Machine Learning and Natural Language Processing.</a:t>
            </a:r>
            <a:endParaRPr lang="en-US" sz="3200" dirty="0"/>
          </a:p>
          <a:p>
            <a:pPr>
              <a:defRPr sz="2800" b="1"/>
            </a:pPr>
            <a:endParaRPr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256238"/>
            <a:ext cx="7866512" cy="892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800" dirty="0"/>
              <a:t>• </a:t>
            </a:r>
            <a:r>
              <a:rPr sz="2400" dirty="0"/>
              <a:t>Detects fake and genuine online reviews using ML.</a:t>
            </a:r>
          </a:p>
          <a:p>
            <a:pPr>
              <a:defRPr sz="2000"/>
            </a:pPr>
            <a:r>
              <a:rPr sz="2400" dirty="0"/>
              <a:t>• Built </a:t>
            </a:r>
            <a:r>
              <a:rPr lang="en-US" sz="2400" dirty="0"/>
              <a:t>using </a:t>
            </a:r>
            <a:r>
              <a:rPr sz="2400" dirty="0"/>
              <a:t>Python and </a:t>
            </a:r>
            <a:r>
              <a:rPr sz="2400" dirty="0" err="1"/>
              <a:t>Streamlit</a:t>
            </a:r>
            <a:r>
              <a:rPr sz="2400" dirty="0"/>
              <a:t> for an interactive interface.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B38FB5-495A-4876-8D9E-D1AA3C134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513" y="4279677"/>
            <a:ext cx="4171798" cy="2376575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4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19"/>
            <a:ext cx="1157067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2800" b="1"/>
            </a:pPr>
            <a:r>
              <a:rPr sz="4400" dirty="0"/>
              <a:t>Problem Statement</a:t>
            </a:r>
            <a:endParaRPr lang="en-US" sz="4400" dirty="0"/>
          </a:p>
          <a:p>
            <a:pPr>
              <a:defRPr sz="2800" b="1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  <a:defRPr sz="2800" b="1"/>
            </a:pPr>
            <a:r>
              <a:rPr lang="en-US" sz="3200" dirty="0">
                <a:solidFill>
                  <a:srgbClr val="334155"/>
                </a:solidFill>
              </a:rPr>
              <a:t>Fake reviews are everywhere on e-commerce platforms, misleading customers and damaging trust.</a:t>
            </a:r>
            <a:endParaRPr lang="en-US" sz="3200" dirty="0"/>
          </a:p>
          <a:p>
            <a:pPr>
              <a:defRPr sz="2800" b="1"/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2767818"/>
            <a:ext cx="5464316" cy="23083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dirty="0"/>
              <a:t>• Fake reviews mislead customers.</a:t>
            </a:r>
          </a:p>
          <a:p>
            <a:pPr>
              <a:defRPr sz="2000"/>
            </a:pPr>
            <a:r>
              <a:rPr sz="2400" dirty="0"/>
              <a:t>• Manual detection is slow and unreliable.</a:t>
            </a:r>
            <a:endParaRPr lang="en-US" sz="2400" dirty="0"/>
          </a:p>
          <a:p>
            <a:pPr>
              <a:defRPr sz="2000"/>
            </a:pPr>
            <a:r>
              <a:rPr lang="en-US" sz="2400" dirty="0">
                <a:solidFill>
                  <a:srgbClr val="000000"/>
                </a:solidFill>
              </a:rPr>
              <a:t>• Customers lose trust</a:t>
            </a:r>
            <a:endParaRPr lang="en-US" sz="2400" dirty="0"/>
          </a:p>
          <a:p>
            <a:pPr>
              <a:buSzPct val="100000"/>
            </a:pPr>
            <a:r>
              <a:rPr lang="en-US" sz="2400" dirty="0">
                <a:solidFill>
                  <a:srgbClr val="000000"/>
                </a:solidFill>
              </a:rPr>
              <a:t>• Honest businesses suffer</a:t>
            </a:r>
            <a:endParaRPr lang="en-US" sz="2400" dirty="0"/>
          </a:p>
          <a:p>
            <a:pPr>
              <a:buSzPct val="100000"/>
            </a:pPr>
            <a:endParaRPr lang="en-US" sz="2800" dirty="0"/>
          </a:p>
          <a:p>
            <a:pPr>
              <a:defRPr sz="2000"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C1381F-BF90-4AC5-A496-CF8A5E6F4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2830" y="2767818"/>
            <a:ext cx="5174349" cy="3924300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B59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1" y="274321"/>
            <a:ext cx="110501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2800" b="1"/>
            </a:pPr>
            <a:r>
              <a:rPr sz="4400" dirty="0"/>
              <a:t>Solution</a:t>
            </a:r>
            <a:endParaRPr lang="en-US" sz="4400" dirty="0"/>
          </a:p>
          <a:p>
            <a:pPr marL="457200" indent="-457200">
              <a:buFont typeface="Wingdings" panose="05000000000000000000" pitchFamily="2" charset="2"/>
              <a:buChar char="v"/>
              <a:defRPr sz="2800" b="1"/>
            </a:pP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  <a:defRPr sz="2800" b="1"/>
            </a:pPr>
            <a:r>
              <a:rPr lang="en-US" sz="4000" dirty="0">
                <a:solidFill>
                  <a:srgbClr val="000000"/>
                </a:solidFill>
              </a:rPr>
              <a:t>Real-time fake review detection web app built with </a:t>
            </a:r>
            <a:r>
              <a:rPr lang="en-US" sz="4000" dirty="0" err="1">
                <a:solidFill>
                  <a:srgbClr val="000000"/>
                </a:solidFill>
              </a:rPr>
              <a:t>Streamlit</a:t>
            </a:r>
            <a:r>
              <a:rPr lang="en-US" sz="4000" dirty="0">
                <a:solidFill>
                  <a:srgbClr val="000000"/>
                </a:solidFill>
              </a:rPr>
              <a:t> and advanced Python ML models.</a:t>
            </a:r>
            <a:endParaRPr lang="en-US" sz="4000" dirty="0"/>
          </a:p>
          <a:p>
            <a:pPr marL="457200" indent="-457200">
              <a:buFont typeface="Wingdings" panose="05000000000000000000" pitchFamily="2" charset="2"/>
              <a:buChar char="v"/>
              <a:defRPr sz="2800" b="1"/>
            </a:pPr>
            <a:endParaRPr lang="en-US" sz="44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71668"/>
            <a:ext cx="7455824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dirty="0"/>
              <a:t>• Use NLP and ML to classify reviews.</a:t>
            </a:r>
          </a:p>
          <a:p>
            <a:pPr>
              <a:defRPr sz="2000"/>
            </a:pPr>
            <a:r>
              <a:rPr sz="2400" dirty="0"/>
              <a:t>• Provide instant predictions through a </a:t>
            </a:r>
            <a:r>
              <a:rPr sz="2400" dirty="0" err="1"/>
              <a:t>Streamlit</a:t>
            </a:r>
            <a:r>
              <a:rPr sz="2400" dirty="0"/>
              <a:t> web app.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DB2967-2141-416F-9F67-EEB7E0AF4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26" y="4502665"/>
            <a:ext cx="7372350" cy="23408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C4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35861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2800" b="1"/>
            </a:pPr>
            <a:r>
              <a:rPr sz="4000" dirty="0"/>
              <a:t>Key Features</a:t>
            </a:r>
            <a:endParaRPr lang="en-US" sz="4000" dirty="0"/>
          </a:p>
          <a:p>
            <a:pPr>
              <a:defRPr sz="2800" b="1"/>
            </a:pP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597759"/>
            <a:ext cx="6468950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 dirty="0"/>
              <a:t>• Real-time review prediction.</a:t>
            </a:r>
          </a:p>
          <a:p>
            <a:pPr>
              <a:defRPr sz="2000"/>
            </a:pPr>
            <a:r>
              <a:rPr sz="2400" dirty="0"/>
              <a:t>• Simple UI, fast processing, and confidence score.</a:t>
            </a:r>
            <a:endParaRPr lang="en-US" sz="2400" dirty="0"/>
          </a:p>
          <a:p>
            <a:pPr>
              <a:buSzPct val="100000"/>
            </a:pPr>
            <a:r>
              <a:rPr lang="en-US" sz="2400" dirty="0">
                <a:solidFill>
                  <a:srgbClr val="000000"/>
                </a:solidFill>
              </a:rPr>
              <a:t>• Text preprocessing &amp; feature extraction</a:t>
            </a:r>
            <a:endParaRPr lang="en-US" sz="2400" dirty="0"/>
          </a:p>
          <a:p>
            <a:pPr>
              <a:buSzPct val="100000"/>
            </a:pPr>
            <a:r>
              <a:rPr lang="en-US" sz="2400" dirty="0">
                <a:solidFill>
                  <a:srgbClr val="000000"/>
                </a:solidFill>
              </a:rPr>
              <a:t>• Multiple classification models</a:t>
            </a:r>
            <a:endParaRPr lang="en-US" sz="2400" dirty="0"/>
          </a:p>
          <a:p>
            <a:pPr>
              <a:buSzPct val="100000"/>
            </a:pPr>
            <a:r>
              <a:rPr lang="en-US" sz="2400" dirty="0">
                <a:solidFill>
                  <a:srgbClr val="000000"/>
                </a:solidFill>
              </a:rPr>
              <a:t>• Interactive </a:t>
            </a:r>
            <a:r>
              <a:rPr lang="en-US" sz="2400" dirty="0" err="1">
                <a:solidFill>
                  <a:srgbClr val="000000"/>
                </a:solidFill>
              </a:rPr>
              <a:t>Streamlit</a:t>
            </a:r>
            <a:r>
              <a:rPr lang="en-US" sz="2400" dirty="0">
                <a:solidFill>
                  <a:srgbClr val="000000"/>
                </a:solidFill>
              </a:rPr>
              <a:t> dashboard</a:t>
            </a:r>
            <a:endParaRPr lang="en-US" sz="2400" dirty="0"/>
          </a:p>
          <a:p>
            <a:pPr>
              <a:buSzPct val="100000"/>
            </a:pPr>
            <a:r>
              <a:rPr lang="en-US" sz="2400" dirty="0">
                <a:solidFill>
                  <a:srgbClr val="000000"/>
                </a:solidFill>
              </a:rPr>
              <a:t>• Confidence scoring &amp; explanations</a:t>
            </a:r>
            <a:endParaRPr lang="en-US" sz="2400" dirty="0"/>
          </a:p>
          <a:p>
            <a:pPr>
              <a:buSzPct val="100000"/>
            </a:pPr>
            <a:r>
              <a:rPr lang="en-US" sz="2400" dirty="0">
                <a:solidFill>
                  <a:srgbClr val="000000"/>
                </a:solidFill>
              </a:rPr>
              <a:t>• Report</a:t>
            </a:r>
            <a:endParaRPr sz="2400" dirty="0"/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BC9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45905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sz="4000" dirty="0"/>
              <a:t>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4707" y="982206"/>
            <a:ext cx="542603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sz="2400"/>
              <a:t>• Enter/paste a review.</a:t>
            </a:r>
          </a:p>
          <a:p>
            <a:pPr>
              <a:defRPr sz="2000"/>
            </a:pPr>
            <a:r>
              <a:rPr sz="2400"/>
              <a:t>• Click Predict to see Genuine/Fake result.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7E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457734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  <a:defRPr sz="2800" b="1"/>
            </a:pPr>
            <a:r>
              <a:rPr sz="4000" dirty="0"/>
              <a:t>Result &amp;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6177717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• High classification accuracy on the test dataset.</a:t>
            </a:r>
          </a:p>
          <a:p>
            <a:pPr>
              <a:defRPr sz="2000"/>
            </a:pPr>
            <a:r>
              <a:rPr dirty="0"/>
              <a:t>• Reliable performance with fast response time.</a:t>
            </a:r>
            <a:endParaRPr lang="en-US" dirty="0"/>
          </a:p>
          <a:p>
            <a:endParaRPr lang="en-US" sz="20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0000"/>
                </a:solidFill>
              </a:rPr>
              <a:t>Achieved strong performance on benchmark datasets: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</a:rPr>
              <a:t>Accuracy: 91%+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</a:rPr>
              <a:t>Precision &amp; Recall: High</a:t>
            </a:r>
            <a:endParaRPr lang="en-US" sz="2000" dirty="0"/>
          </a:p>
          <a:p>
            <a:pPr>
              <a:defRPr sz="2000"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5920595" cy="38472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  <a:defRPr sz="2800" b="1"/>
            </a:pPr>
            <a:r>
              <a:rPr sz="4400" dirty="0"/>
              <a:t>Future Enhancement</a:t>
            </a:r>
            <a:endParaRPr lang="en-US" sz="4400" dirty="0"/>
          </a:p>
          <a:p>
            <a:pPr>
              <a:buSzPct val="100000"/>
            </a:pPr>
            <a:endParaRPr lang="en-US" sz="4400" dirty="0"/>
          </a:p>
          <a:p>
            <a:pPr>
              <a:buSzPct val="100000"/>
            </a:pPr>
            <a:r>
              <a:rPr lang="en-US" sz="2800" dirty="0">
                <a:solidFill>
                  <a:srgbClr val="000000"/>
                </a:solidFill>
              </a:rPr>
              <a:t>• Advanced Transformer models (BERT)</a:t>
            </a:r>
            <a:endParaRPr lang="en-US" sz="2800" dirty="0"/>
          </a:p>
          <a:p>
            <a:pPr>
              <a:buSzPct val="100000"/>
            </a:pPr>
            <a:r>
              <a:rPr lang="en-US" sz="2800" dirty="0">
                <a:solidFill>
                  <a:srgbClr val="000000"/>
                </a:solidFill>
              </a:rPr>
              <a:t>• Multi-lingual support</a:t>
            </a:r>
            <a:endParaRPr lang="en-US" sz="2800" dirty="0"/>
          </a:p>
          <a:p>
            <a:pPr>
              <a:buSzPct val="100000"/>
            </a:pPr>
            <a:r>
              <a:rPr lang="en-US" sz="2800" dirty="0">
                <a:solidFill>
                  <a:srgbClr val="000000"/>
                </a:solidFill>
              </a:rPr>
              <a:t>• API for e-commerce platforms</a:t>
            </a:r>
            <a:endParaRPr lang="en-US" sz="2800" dirty="0"/>
          </a:p>
          <a:p>
            <a:pPr>
              <a:buSzPct val="100000"/>
            </a:pPr>
            <a:r>
              <a:rPr lang="en-US" sz="2800" dirty="0">
                <a:solidFill>
                  <a:srgbClr val="000000"/>
                </a:solidFill>
              </a:rPr>
              <a:t>• Deployment on cloud</a:t>
            </a:r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v"/>
              <a:defRPr sz="2800" b="1"/>
            </a:pPr>
            <a:endParaRPr sz="4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4C01F5-D15A-45E6-88BD-2003493A0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1835" y="2335236"/>
            <a:ext cx="5159790" cy="4072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250">
        <p:push dir="u"/>
      </p:transition>
    </mc:Choice>
    <mc:Fallback xmlns="">
      <p:transition spd="slow">
        <p:push dir="u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980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3178499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  <a:defRPr sz="2800" b="1"/>
            </a:pPr>
            <a:r>
              <a:rPr sz="4400" dirty="0"/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5070555" cy="12618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endParaRPr lang="en-US" sz="2800" dirty="0"/>
          </a:p>
          <a:p>
            <a:pPr>
              <a:defRPr sz="2000"/>
            </a:pPr>
            <a:r>
              <a:rPr sz="2400" dirty="0"/>
              <a:t>• Thank you</a:t>
            </a:r>
            <a:r>
              <a:rPr lang="en-US" sz="2400" dirty="0"/>
              <a:t> for your time.</a:t>
            </a:r>
            <a:endParaRPr sz="2400" dirty="0"/>
          </a:p>
          <a:p>
            <a:pPr>
              <a:defRPr sz="2000"/>
            </a:pPr>
            <a:r>
              <a:rPr sz="2400" dirty="0"/>
              <a:t>• If you have any questions, please ask.</a:t>
            </a:r>
          </a:p>
        </p:txBody>
      </p:sp>
    </p:spTree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</TotalTime>
  <Words>255</Words>
  <Application>Microsoft Office PowerPoint</Application>
  <PresentationFormat>Custom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hp</cp:lastModifiedBy>
  <cp:revision>7</cp:revision>
  <dcterms:created xsi:type="dcterms:W3CDTF">2013-01-27T09:14:16Z</dcterms:created>
  <dcterms:modified xsi:type="dcterms:W3CDTF">2026-07-12T21:17:31Z</dcterms:modified>
  <cp:category/>
</cp:coreProperties>
</file>